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91C3E"/>
          </a:solidFill>
          <a:ln w="12700">
            <a:solidFill>
              <a:srgbClr val="091C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0" y="11887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SETTLEMENT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0" y="18745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300" kern="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4572000" y="26517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Design Guide &amp; Component Specification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0" y="3154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Retool Implementation  •  Manager Workflow  •  Credit Notes  •  Returns  •  Expenses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97A7"/>
                </a:solidFill>
              </a:rPr>
              <a:t>WORKFLOW PHASES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7432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Delivery Sync Review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74320" y="19019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Invoice Verification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4320" y="22951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Returns Processing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74320" y="26883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Credit Notes / Sales Returns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4320" y="30815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Instant Returns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74320" y="3474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Expiry / Damage Returns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74320" y="38679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Expenses Approval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74320" y="42611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Payment Settlement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74320" y="46542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Trip Completion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0" y="6446520"/>
            <a:ext cx="12161520" cy="411480"/>
          </a:xfrm>
          <a:prstGeom prst="rect">
            <a:avLst/>
          </a:prstGeom>
          <a:solidFill>
            <a:srgbClr val="060F22"/>
          </a:solidFill>
          <a:ln w="12700">
            <a:solidFill>
              <a:srgbClr val="060F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F8A"/>
                </a:solidFill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Workflow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trip settlement process — triggered after delivery team syncs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1F45"/>
          </a:solidFill>
          <a:ln w="12700">
            <a:solidFill>
              <a:srgbClr val="0A1F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11112"/>
            <a:ext cx="11430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Settlement Portal  •  Retool Frontend Guide  •  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371600"/>
            <a:ext cx="914400" cy="914400"/>
          </a:xfrm>
          <a:prstGeom prst="ellipse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235915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638"/>
                </a:solidFill>
              </a:rPr>
              <a:t>Delivery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638"/>
                </a:solidFill>
              </a:rPr>
              <a:t>Sync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56232" y="1783080"/>
            <a:ext cx="201168" cy="73152"/>
          </a:xfrm>
          <a:prstGeom prst="rect">
            <a:avLst/>
          </a:prstGeom>
          <a:solidFill>
            <a:srgbClr val="C0CCDA"/>
          </a:solidFill>
          <a:ln w="12700">
            <a:solidFill>
              <a:srgbClr val="C0CC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7712" y="1371600"/>
            <a:ext cx="914400" cy="9144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67712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39112" y="235915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638"/>
                </a:solidFill>
              </a:rPr>
              <a:t>Invoice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638"/>
                </a:solidFill>
              </a:rPr>
              <a:t>Verification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29584" y="1783080"/>
            <a:ext cx="201168" cy="73152"/>
          </a:xfrm>
          <a:prstGeom prst="rect">
            <a:avLst/>
          </a:prstGeom>
          <a:solidFill>
            <a:srgbClr val="C0CCDA"/>
          </a:solidFill>
          <a:ln w="12700">
            <a:solidFill>
              <a:srgbClr val="C0CC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41064" y="1371600"/>
            <a:ext cx="914400" cy="91440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41064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12464" y="235915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638"/>
                </a:solidFill>
              </a:rPr>
              <a:t>Returns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638"/>
                </a:solidFill>
              </a:rPr>
              <a:t>Processing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02936" y="1783080"/>
            <a:ext cx="201168" cy="73152"/>
          </a:xfrm>
          <a:prstGeom prst="rect">
            <a:avLst/>
          </a:prstGeom>
          <a:solidFill>
            <a:srgbClr val="C0CCDA"/>
          </a:solidFill>
          <a:ln w="12700">
            <a:solidFill>
              <a:srgbClr val="C0CC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14416" y="1371600"/>
            <a:ext cx="914400" cy="91440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14416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85816" y="235915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638"/>
                </a:solidFill>
              </a:rPr>
              <a:t>Credit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638"/>
                </a:solidFill>
              </a:rPr>
              <a:t>Notes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76288" y="1783080"/>
            <a:ext cx="201168" cy="73152"/>
          </a:xfrm>
          <a:prstGeom prst="rect">
            <a:avLst/>
          </a:prstGeom>
          <a:solidFill>
            <a:srgbClr val="C0CCDA"/>
          </a:solidFill>
          <a:ln w="12700">
            <a:solidFill>
              <a:srgbClr val="C0CC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87768" y="1371600"/>
            <a:ext cx="914400" cy="91440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87768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059168" y="235915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638"/>
                </a:solidFill>
              </a:rPr>
              <a:t>Expenses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638"/>
                </a:solidFill>
              </a:rPr>
              <a:t>Approval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549640" y="1783080"/>
            <a:ext cx="201168" cy="73152"/>
          </a:xfrm>
          <a:prstGeom prst="rect">
            <a:avLst/>
          </a:prstGeom>
          <a:solidFill>
            <a:srgbClr val="C0CCDA"/>
          </a:solidFill>
          <a:ln w="12700">
            <a:solidFill>
              <a:srgbClr val="C0CCD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61120" y="1371600"/>
            <a:ext cx="914400" cy="9144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96112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732520" y="235915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638"/>
                </a:solidFill>
              </a:rPr>
              <a:t>Payment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638"/>
                </a:solidFill>
              </a:rPr>
              <a:t>Settlement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222992" y="1783080"/>
            <a:ext cx="201168" cy="73152"/>
          </a:xfrm>
          <a:prstGeom prst="rect">
            <a:avLst/>
          </a:prstGeom>
          <a:solidFill>
            <a:srgbClr val="C0CCDA"/>
          </a:solidFill>
          <a:ln w="12700">
            <a:solidFill>
              <a:srgbClr val="C0CCD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634472" y="1371600"/>
            <a:ext cx="914400" cy="91440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634472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07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0405872" y="235915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638"/>
                </a:solidFill>
              </a:rPr>
              <a:t>Trip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638"/>
                </a:solidFill>
              </a:rPr>
              <a:t>Complete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108960"/>
            <a:ext cx="3566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3108960"/>
            <a:ext cx="64008" cy="1417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154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565C0"/>
                </a:solidFill>
              </a:rPr>
              <a:t>INVOICE VERIFICATION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34747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</a:rPr>
              <a:t>✓  Delivered → Manager confirms physically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" y="366674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3935"/>
                </a:solidFill>
              </a:rPr>
              <a:t>✗  Not Delivered → 3 sub-flows applied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2920" y="385876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638"/>
                </a:solidFill>
              </a:rPr>
              <a:t>   • Customer cancelled → Credit Note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2920" y="405079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638"/>
                </a:solidFill>
              </a:rPr>
              <a:t>   • Time / Shop closed → Next trip queue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2920" y="424281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638"/>
                </a:solidFill>
              </a:rPr>
              <a:t>   • Shop refused → Confirm return → Credit Note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0" y="3108960"/>
            <a:ext cx="3566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114800" y="3108960"/>
            <a:ext cx="64008" cy="14173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51960" y="3154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A1B9A"/>
                </a:solidFill>
              </a:rPr>
              <a:t>RETURNS PROCESSING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251960" y="34747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638"/>
                </a:solidFill>
              </a:rPr>
              <a:t>• Bulk Return — all undelivered shops in one click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251960" y="366674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638"/>
                </a:solidFill>
              </a:rPr>
              <a:t>• Instant Return — partial item rejection at door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251960" y="385876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638"/>
                </a:solidFill>
              </a:rPr>
              <a:t>• Expiry / Damage — past-sales stock return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251960" y="405079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638"/>
                </a:solidFill>
              </a:rPr>
              <a:t>• Physical count confirmed before each credit note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251960" y="424281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638"/>
                </a:solidFill>
              </a:rPr>
              <a:t>• FIFO adjustment to oldest unpaid invoice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863840" y="310896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863840" y="3108960"/>
            <a:ext cx="64008" cy="1417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0100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7D32"/>
                </a:solidFill>
              </a:rPr>
              <a:t>CREDIT NOTE FIFO LOGIC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001000" y="34747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638"/>
                </a:solidFill>
              </a:rPr>
              <a:t>1. Match credit note to trip invoice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001000" y="36667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638"/>
                </a:solidFill>
              </a:rPr>
              <a:t>2. If credit &gt; invoice balance → overflow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001000" y="38587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638"/>
                </a:solidFill>
              </a:rPr>
              <a:t>3. Find oldest unpaid invoice (same customer)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001000" y="40507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638"/>
                </a:solidFill>
              </a:rPr>
              <a:t>4. Apply remaining amount via FIFO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001000" y="4242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638"/>
                </a:solidFill>
              </a:rPr>
              <a:t>5. Continue until credit fully absorbed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65760" y="4709160"/>
            <a:ext cx="11430000" cy="457200"/>
          </a:xfrm>
          <a:prstGeom prst="rect">
            <a:avLst/>
          </a:prstGeom>
          <a:solidFill>
            <a:srgbClr val="E8F4FD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4736592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D5E"/>
                </a:solidFill>
              </a:rPr>
              <a:t>⚡  Key Principle: Manager must confirm physical return before any credit note is generated. All returns support both BULK and INDIVIDUAL modes.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Retool Page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app with tabbed navigation — one trip at a time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332720" y="201168"/>
            <a:ext cx="1463040" cy="502920"/>
          </a:xfrm>
          <a:prstGeom prst="rect">
            <a:avLst>
              <a:gd name="adj" fmla="val 9091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0" y="2011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STRUCTURE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1F45"/>
          </a:solidFill>
          <a:ln w="12700">
            <a:solidFill>
              <a:srgbClr val="0A1F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611112"/>
            <a:ext cx="11430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Settlement Portal  •  Retool Frontend Guide  •  Confidential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11430000" cy="5120640"/>
          </a:xfrm>
          <a:prstGeom prst="rect">
            <a:avLst/>
          </a:prstGeom>
          <a:solidFill>
            <a:srgbClr val="F0F4F8"/>
          </a:solidFill>
          <a:ln w="12700">
            <a:solidFill>
              <a:srgbClr val="C4CDD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143000"/>
            <a:ext cx="11430000" cy="320040"/>
          </a:xfrm>
          <a:prstGeom prst="rect">
            <a:avLst/>
          </a:prstGeom>
          <a:solidFill>
            <a:srgbClr val="DDE3EA"/>
          </a:solidFill>
          <a:ln w="12700">
            <a:solidFill>
              <a:srgbClr val="C4CD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216152"/>
            <a:ext cx="137160" cy="1371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" y="1216152"/>
            <a:ext cx="137160" cy="13716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6968" y="1216152"/>
            <a:ext cx="137160" cy="1371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" y="1188720"/>
            <a:ext cx="7772400" cy="201168"/>
          </a:xfrm>
          <a:prstGeom prst="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B0BA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118872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FA1"/>
                </a:solidFill>
              </a:rPr>
              <a:t>retool.company.com/apps/trip-settlement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1463040"/>
            <a:ext cx="11430000" cy="457200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49047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🚚  Trip Settlement Portal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0" y="149047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E0"/>
                </a:solidFill>
              </a:rPr>
              <a:t>Trips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0" y="149047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E0"/>
                </a:solidFill>
              </a:rPr>
              <a:t>Reports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0" y="149047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E0"/>
                </a:solidFill>
              </a:rPr>
              <a:t>Settings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1920240"/>
            <a:ext cx="11430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638"/>
                </a:solidFill>
              </a:rPr>
              <a:t>Trip #TRP-2024-0892  |  Team: Alpha  |  Date: 22 Feb 2026  |  Driver: Rajan K.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515600" y="2020824"/>
            <a:ext cx="822960" cy="201168"/>
          </a:xfrm>
          <a:prstGeom prst="rect">
            <a:avLst>
              <a:gd name="adj" fmla="val 18182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0" y="20208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IN PROGRESS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9144000" y="1984248"/>
            <a:ext cx="1280160" cy="274320"/>
          </a:xfrm>
          <a:prstGeom prst="rect">
            <a:avLst>
              <a:gd name="adj" fmla="val 133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44000" y="19842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Switch Trip ▾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2331720"/>
            <a:ext cx="1691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2331720"/>
            <a:ext cx="1691640" cy="457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3774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D5E"/>
                </a:solidFill>
              </a:rPr>
              <a:t>📋 Delivery Sync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57400" y="2331720"/>
            <a:ext cx="1691640" cy="347472"/>
          </a:xfrm>
          <a:prstGeom prst="rect">
            <a:avLst/>
          </a:prstGeom>
          <a:solidFill>
            <a:srgbClr val="EAF0F6"/>
          </a:solidFill>
          <a:ln w="12700">
            <a:solidFill>
              <a:srgbClr val="C4CD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03120" y="23774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FA1"/>
                </a:solidFill>
              </a:rPr>
              <a:t>📦 Returns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749040" y="2331720"/>
            <a:ext cx="1691640" cy="347472"/>
          </a:xfrm>
          <a:prstGeom prst="rect">
            <a:avLst/>
          </a:prstGeom>
          <a:solidFill>
            <a:srgbClr val="EAF0F6"/>
          </a:solidFill>
          <a:ln w="12700">
            <a:solidFill>
              <a:srgbClr val="C4CD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94760" y="23774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FA1"/>
                </a:solidFill>
              </a:rPr>
              <a:t>🧾 Credit Notes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40680" y="2331720"/>
            <a:ext cx="1691640" cy="347472"/>
          </a:xfrm>
          <a:prstGeom prst="rect">
            <a:avLst/>
          </a:prstGeom>
          <a:solidFill>
            <a:srgbClr val="EAF0F6"/>
          </a:solidFill>
          <a:ln w="12700">
            <a:solidFill>
              <a:srgbClr val="C4CD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23774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FA1"/>
                </a:solidFill>
              </a:rPr>
              <a:t>💰 Expenses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32320" y="2331720"/>
            <a:ext cx="1691640" cy="347472"/>
          </a:xfrm>
          <a:prstGeom prst="rect">
            <a:avLst/>
          </a:prstGeom>
          <a:solidFill>
            <a:srgbClr val="EAF0F6"/>
          </a:solidFill>
          <a:ln w="12700">
            <a:solidFill>
              <a:srgbClr val="C4CD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78040" y="23774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FA1"/>
                </a:solidFill>
              </a:rPr>
              <a:t>💳 Payments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823960" y="2331720"/>
            <a:ext cx="1691640" cy="347472"/>
          </a:xfrm>
          <a:prstGeom prst="rect">
            <a:avLst/>
          </a:prstGeom>
          <a:solidFill>
            <a:srgbClr val="EAF0F6"/>
          </a:solidFill>
          <a:ln w="12700">
            <a:solidFill>
              <a:srgbClr val="C4CDD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69680" y="23774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FA1"/>
                </a:solidFill>
              </a:rPr>
              <a:t>✅ Complete Trip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2679192"/>
            <a:ext cx="114300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2679192"/>
            <a:ext cx="2286000" cy="2651760"/>
          </a:xfrm>
          <a:prstGeom prst="rect">
            <a:avLst/>
          </a:prstGeom>
          <a:solidFill>
            <a:srgbClr val="F7FAFC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2788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B8FA1"/>
                </a:solidFill>
              </a:rPr>
              <a:t>TRIP SUMMARY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2920" y="3063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1"/>
                </a:solidFill>
              </a:rPr>
              <a:t>Total Shops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691640" y="3063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2638"/>
                </a:solidFill>
              </a:rPr>
              <a:t>24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2920" y="34107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1"/>
                </a:solidFill>
              </a:rPr>
              <a:t>Delivered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691640" y="34107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3A047"/>
                </a:solidFill>
              </a:rPr>
              <a:t>18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02920" y="37581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1"/>
                </a:solidFill>
              </a:rPr>
              <a:t>Undelivered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691640" y="37581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53935"/>
                </a:solidFill>
              </a:rPr>
              <a:t>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2920" y="4105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1"/>
                </a:solidFill>
              </a:rPr>
              <a:t>Pending Returns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691640" y="41056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7C00"/>
                </a:solidFill>
              </a:rPr>
              <a:t>3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02920" y="44531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1"/>
                </a:solidFill>
              </a:rPr>
              <a:t>Total Value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691640" y="44531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2638"/>
                </a:solidFill>
              </a:rPr>
              <a:t>₹84,200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834640" y="324612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BAC5"/>
                </a:solidFill>
              </a:rPr>
              <a:t>Active Tab Content Area  →  Component renders here based on selected tab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2296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7A7"/>
                </a:solidFill>
              </a:rPr>
              <a:t>← Component Map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229600" y="502920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638"/>
                </a:solidFill>
              </a:rPr>
              <a:t>•  TopNavBar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229600" y="51937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638"/>
                </a:solidFill>
              </a:rPr>
              <a:t>•  TripSelectorBar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229600" y="535838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638"/>
                </a:solidFill>
              </a:rPr>
              <a:t>•  TabsWidget6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8229600" y="552297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638"/>
                </a:solidFill>
              </a:rPr>
              <a:t>•  SidebarSummaryCard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229600" y="568756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638"/>
                </a:solidFill>
              </a:rPr>
              <a:t>•  MainContentPanel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229600" y="58521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638"/>
                </a:solidFill>
              </a:rPr>
              <a:t>•  TripStatusBadge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1 — Delivery Sync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reviews what delivery team reported; verifies delivered vs. undelivered invoices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332720" y="201168"/>
            <a:ext cx="1463040" cy="502920"/>
          </a:xfrm>
          <a:prstGeom prst="rect">
            <a:avLst>
              <a:gd name="adj" fmla="val 9091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0" y="2011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1F45"/>
          </a:solidFill>
          <a:ln w="12700">
            <a:solidFill>
              <a:srgbClr val="0A1F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611112"/>
            <a:ext cx="11430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Settlement Portal  •  Retool Frontend Guide  •  Confidential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56692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143000"/>
            <a:ext cx="64008" cy="39776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1887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A047"/>
                </a:solidFill>
              </a:rPr>
              <a:t>✓  DELIVERED INVOICES  (18)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1508760"/>
            <a:ext cx="3200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5270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FA1"/>
                </a:solidFill>
              </a:rPr>
              <a:t>🔍  Search invoice / shop...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94760" y="1508760"/>
            <a:ext cx="822960" cy="274320"/>
          </a:xfrm>
          <a:prstGeom prst="rect">
            <a:avLst>
              <a:gd name="adj" fmla="val 133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94760" y="1508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Filter ▾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508760"/>
            <a:ext cx="914400" cy="274320"/>
          </a:xfrm>
          <a:prstGeom prst="rect">
            <a:avLst>
              <a:gd name="adj" fmla="val 13333"/>
            </a:avLst>
          </a:prstGeom>
          <a:solidFill>
            <a:srgbClr val="7B8FA1"/>
          </a:solidFill>
          <a:ln w="12700">
            <a:solidFill>
              <a:srgbClr val="7B8FA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↓ Export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1828800"/>
            <a:ext cx="5486400" cy="256032"/>
          </a:xfrm>
          <a:prstGeom prst="rect">
            <a:avLst/>
          </a:prstGeom>
          <a:solidFill>
            <a:srgbClr val="0F2D5E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1847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#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54480" y="184708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184708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06240" y="184708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0" y="1847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2084832"/>
            <a:ext cx="5486400" cy="256032"/>
          </a:xfrm>
          <a:prstGeom prst="rect">
            <a:avLst/>
          </a:prstGeom>
          <a:solidFill>
            <a:srgbClr val="F8FBFF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1031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INV-8801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554480" y="210312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Al-Ameen Stores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83280" y="21031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₹3,200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206240" y="21031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0" y="21031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37760" y="21031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3A047"/>
                </a:solidFill>
              </a:rPr>
              <a:t>✓ Verified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02920" y="2340864"/>
            <a:ext cx="5486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23591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INV-8802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554480" y="23591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Mart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383280" y="23591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₹5,100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206240" y="23591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029200" y="23591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37760" y="23591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3A047"/>
                </a:solidFill>
              </a:rPr>
              <a:t>✓ Verified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02920" y="2596896"/>
            <a:ext cx="5486400" cy="256032"/>
          </a:xfrm>
          <a:prstGeom prst="rect">
            <a:avLst/>
          </a:prstGeom>
          <a:solidFill>
            <a:srgbClr val="F8FBFF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26151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INV-8803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554480" y="26151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Supermarket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383280" y="26151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₹2,800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206240" y="26151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029200" y="26151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Now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37760" y="261518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</a:rPr>
              <a:t>Verify Now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02920" y="2852928"/>
            <a:ext cx="5486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28712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INV-8804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554480" y="28712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Local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383280" y="28712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₹4,500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206240" y="28712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029200" y="28712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Now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37760" y="28712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</a:rPr>
              <a:t>Verify Now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02920" y="3108960"/>
            <a:ext cx="5486400" cy="256032"/>
          </a:xfrm>
          <a:prstGeom prst="rect">
            <a:avLst/>
          </a:prstGeom>
          <a:solidFill>
            <a:srgbClr val="F8FBFF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31272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INV-8805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554480" y="312724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 Grocers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383280" y="31272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₹1,900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206240" y="31272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029200" y="31272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Now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937760" y="31272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</a:rPr>
              <a:t>Verify Now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02920" y="3410712"/>
            <a:ext cx="2194560" cy="274320"/>
          </a:xfrm>
          <a:prstGeom prst="rect">
            <a:avLst>
              <a:gd name="adj" fmla="val 13333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502920" y="34107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 Verify All Delivered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217920" y="1143000"/>
            <a:ext cx="55778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217920" y="1143000"/>
            <a:ext cx="64008" cy="39776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0" y="11887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</a:rPr>
              <a:t>✗  NOT DELIVERED  (6)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355080" y="1508760"/>
            <a:ext cx="3200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0" y="15270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FA1"/>
                </a:solidFill>
              </a:rPr>
              <a:t>🔍  Search...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9601200" y="1508760"/>
            <a:ext cx="822960" cy="274320"/>
          </a:xfrm>
          <a:prstGeom prst="rect">
            <a:avLst>
              <a:gd name="adj" fmla="val 133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9601200" y="1508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Filter ▾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355080" y="1828800"/>
            <a:ext cx="5394960" cy="256032"/>
          </a:xfrm>
          <a:prstGeom prst="rect">
            <a:avLst/>
          </a:prstGeom>
          <a:solidFill>
            <a:srgbClr val="0F2D5E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00800" y="184708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#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315200" y="184708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961120" y="18470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0332720" y="18470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Action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355080" y="2084832"/>
            <a:ext cx="5394960" cy="256032"/>
          </a:xfrm>
          <a:prstGeom prst="rect">
            <a:avLst/>
          </a:prstGeom>
          <a:solidFill>
            <a:srgbClr val="FFF8F8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00800" y="21031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INV-8810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7315200" y="21031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 Traders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8961120" y="21031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10332720" y="21031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8933688" y="21031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53935"/>
                </a:solidFill>
              </a:rPr>
              <a:t>Customer Cancelled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10305288" y="21031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97A7"/>
                </a:solidFill>
              </a:rPr>
              <a:t>Credit Note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6355080" y="2340864"/>
            <a:ext cx="5394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00800" y="235915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INV-8811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7315200" y="235915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Bazaar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8961120" y="235915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10332720" y="23591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8933688" y="23591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7C00"/>
                </a:solidFill>
              </a:rPr>
              <a:t>Shop Closed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10305288" y="23591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565C0"/>
                </a:solidFill>
              </a:rPr>
              <a:t>Next Trip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6355080" y="2596896"/>
            <a:ext cx="5394960" cy="256032"/>
          </a:xfrm>
          <a:prstGeom prst="rect">
            <a:avLst/>
          </a:prstGeom>
          <a:solidFill>
            <a:srgbClr val="FFF8F8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400800" y="261518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INV-8812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7315200" y="261518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Hamid Stores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8961120" y="261518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10332720" y="26151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8933688" y="26151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7C00"/>
                </a:solidFill>
              </a:rPr>
              <a:t>Ran Out of Time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10305288" y="261518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565C0"/>
                </a:solidFill>
              </a:rPr>
              <a:t>Next Trip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6355080" y="2852928"/>
            <a:ext cx="5394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400800" y="28712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INV-8813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7315200" y="287121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Market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8961120" y="28712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10332720" y="28712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8933688" y="28712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A1B9A"/>
                </a:solidFill>
              </a:rPr>
              <a:t>Shop Refused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10305288" y="287121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A1B9A"/>
                </a:solidFill>
              </a:rPr>
              <a:t>Confirm Return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6355080" y="3108960"/>
            <a:ext cx="5394960" cy="256032"/>
          </a:xfrm>
          <a:prstGeom prst="rect">
            <a:avLst/>
          </a:prstGeom>
          <a:solidFill>
            <a:srgbClr val="FFF8F8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400800" y="312724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INV-8814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7315200" y="312724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Jasmine Mart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8961120" y="31272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10332720" y="31272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8933688" y="31272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53935"/>
                </a:solidFill>
              </a:rPr>
              <a:t>Customer Cancelled</a:t>
            </a:r>
            <a:endParaRPr lang="en-US" sz="750" dirty="0"/>
          </a:p>
        </p:txBody>
      </p:sp>
      <p:sp>
        <p:nvSpPr>
          <p:cNvPr id="108" name="Text 106"/>
          <p:cNvSpPr/>
          <p:nvPr/>
        </p:nvSpPr>
        <p:spPr>
          <a:xfrm>
            <a:off x="10305288" y="31272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97A7"/>
                </a:solidFill>
              </a:rPr>
              <a:t>Credit Note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6355080" y="3364992"/>
            <a:ext cx="5394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400800" y="33832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INV-8815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7315200" y="33832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Khaleej Store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8961120" y="338328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10332720" y="33832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8933688" y="33832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A1B9A"/>
                </a:solidFill>
              </a:rPr>
              <a:t>Shop Refused</a:t>
            </a:r>
            <a:endParaRPr lang="en-US" sz="750" dirty="0"/>
          </a:p>
        </p:txBody>
      </p:sp>
      <p:sp>
        <p:nvSpPr>
          <p:cNvPr id="115" name="Text 113"/>
          <p:cNvSpPr/>
          <p:nvPr/>
        </p:nvSpPr>
        <p:spPr>
          <a:xfrm>
            <a:off x="10305288" y="33832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A1B9A"/>
                </a:solidFill>
              </a:rPr>
              <a:t>Confirm Return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6355080" y="3410712"/>
            <a:ext cx="2103120" cy="274320"/>
          </a:xfrm>
          <a:prstGeom prst="rect">
            <a:avLst>
              <a:gd name="adj" fmla="val 13333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7" name="Text 115"/>
          <p:cNvSpPr/>
          <p:nvPr/>
        </p:nvSpPr>
        <p:spPr>
          <a:xfrm>
            <a:off x="6355080" y="3410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🔄 Bulk: Confirm Returns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8549640" y="3410712"/>
            <a:ext cx="1645920" cy="274320"/>
          </a:xfrm>
          <a:prstGeom prst="rect">
            <a:avLst>
              <a:gd name="adj" fmla="val 133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9" name="Text 117"/>
          <p:cNvSpPr/>
          <p:nvPr/>
        </p:nvSpPr>
        <p:spPr>
          <a:xfrm>
            <a:off x="8549640" y="3410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📋 Queue Next Trip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10287000" y="3410712"/>
            <a:ext cx="1371600" cy="274320"/>
          </a:xfrm>
          <a:prstGeom prst="rect">
            <a:avLst>
              <a:gd name="adj" fmla="val 13333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1" name="Text 119"/>
          <p:cNvSpPr/>
          <p:nvPr/>
        </p:nvSpPr>
        <p:spPr>
          <a:xfrm>
            <a:off x="10287000" y="34107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📝 Credit Notes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365760" y="5285232"/>
            <a:ext cx="1143000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A8D5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48640" y="5312664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D5E"/>
                </a:solidFill>
              </a:rPr>
              <a:t>ℹ  Components: DeliveredInvoiceTable  |  UndeliveredInvoiceTable  |  ReasonBadge  |  BulkActionBar  |  VerifyButton  |  NextTripQueueModal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2 — Returns Processing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return types: Shop-refused Bulk Returns · Instant Partial Returns · Expiry / Damage Returns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332720" y="201168"/>
            <a:ext cx="1463040" cy="502920"/>
          </a:xfrm>
          <a:prstGeom prst="rect">
            <a:avLst>
              <a:gd name="adj" fmla="val 9091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0" y="2011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1F45"/>
          </a:solidFill>
          <a:ln w="12700">
            <a:solidFill>
              <a:srgbClr val="0A1F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611112"/>
            <a:ext cx="11430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Settlement Portal  •  Retool Frontend Guide  •  Confidential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3840480" cy="320040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61288"/>
            <a:ext cx="3657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🏬 Bulk Shop Returns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143000"/>
            <a:ext cx="3840480" cy="320040"/>
          </a:xfrm>
          <a:prstGeom prst="rect">
            <a:avLst/>
          </a:prstGeom>
          <a:solidFill>
            <a:srgbClr val="E2EAF2"/>
          </a:solidFill>
          <a:ln w="12700">
            <a:solidFill>
              <a:srgbClr val="C4CD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161288"/>
            <a:ext cx="3657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FA1"/>
                </a:solidFill>
              </a:rPr>
              <a:t>⚡ Instant Returns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0" y="1143000"/>
            <a:ext cx="3840480" cy="320040"/>
          </a:xfrm>
          <a:prstGeom prst="rect">
            <a:avLst/>
          </a:prstGeom>
          <a:solidFill>
            <a:srgbClr val="E2EAF2"/>
          </a:solidFill>
          <a:ln w="12700">
            <a:solidFill>
              <a:srgbClr val="C4CD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161288"/>
            <a:ext cx="3657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FA1"/>
                </a:solidFill>
              </a:rPr>
              <a:t>💀 Expiry / Damage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508760"/>
            <a:ext cx="5303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1508760"/>
            <a:ext cx="64008" cy="36576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572768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A1B9A"/>
                </a:solidFill>
              </a:rPr>
              <a:t>SHOPS WITH REFUSED DELIVERY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1874520"/>
            <a:ext cx="182880" cy="18288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18745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3A047"/>
                </a:solidFill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" y="18745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638"/>
                </a:solidFill>
              </a:rPr>
              <a:t>Ideal Market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34640" y="18745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1"/>
                </a:solidFill>
              </a:rPr>
              <a:t>INV-8813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23360" y="1874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2638"/>
                </a:solidFill>
              </a:rPr>
              <a:t>₹2,100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2258568"/>
            <a:ext cx="182880" cy="18288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2585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3A047"/>
                </a:solidFill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" y="22585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638"/>
                </a:solidFill>
              </a:rPr>
              <a:t>Khaleej Store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834640" y="22585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1"/>
                </a:solidFill>
              </a:rPr>
              <a:t>INV-8815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023360" y="2258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2638"/>
                </a:solidFill>
              </a:rPr>
              <a:t>₹1,800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2642616"/>
            <a:ext cx="182880" cy="18288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642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3A047"/>
                </a:solidFill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4672" y="26426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638"/>
                </a:solidFill>
              </a:rPr>
              <a:t>Noor Traders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834640" y="26426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1"/>
                </a:solidFill>
              </a:rPr>
              <a:t>INV-8818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023360" y="26426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2638"/>
                </a:solidFill>
              </a:rPr>
              <a:t>₹3,400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31089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</a:rPr>
              <a:t>☑  Select All  |  ☐ Deselect All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3429000"/>
            <a:ext cx="5029200" cy="274320"/>
          </a:xfrm>
          <a:prstGeom prst="rect">
            <a:avLst>
              <a:gd name="adj" fmla="val 13333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" y="3429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📦 Confirm Physical Return &amp; Create Bulk Credit Notes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37673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B8FA1"/>
                </a:solidFill>
              </a:rPr>
              <a:t>→ Opens modal: shows product-wise sum across all selected shops. Manager matches physical count. One click creates all credit notes.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4160520"/>
            <a:ext cx="5120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94360" y="420624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A1B9A"/>
                </a:solidFill>
              </a:rPr>
              <a:t>MODAL PREVIEW — Bulk Return Confirmation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94360" y="4480560"/>
            <a:ext cx="4937760" cy="256032"/>
          </a:xfrm>
          <a:prstGeom prst="rect">
            <a:avLst/>
          </a:prstGeom>
          <a:solidFill>
            <a:srgbClr val="0F2D5E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449884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468880" y="449884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Qty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383280" y="44988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Count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663440" y="449884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Match?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94360" y="4736592"/>
            <a:ext cx="49377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47548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Sunflower Oil 1L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468880" y="47548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383280" y="47548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663440" y="47548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94360" y="4965192"/>
            <a:ext cx="49377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49834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5kg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468880" y="49834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383280" y="49834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663440" y="49834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94360" y="5193792"/>
            <a:ext cx="49377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" y="52120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1kg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468880" y="52120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383280" y="52120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663440" y="52120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989320" y="1508760"/>
            <a:ext cx="58064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989320" y="1508760"/>
            <a:ext cx="64008" cy="36576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72200" y="157276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57C00"/>
                </a:solidFill>
              </a:rPr>
              <a:t>INSTANT RETURNS — PARTIAL ITEM REJECTION AT DELIVERY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17220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1"/>
                </a:solidFill>
              </a:rPr>
              <a:t>Select Invoice: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955280" y="1874520"/>
            <a:ext cx="34747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4CDD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001000" y="1892808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638"/>
                </a:solidFill>
              </a:rPr>
              <a:t>INV-8820 — Qasim Stores  ▾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172200" y="21945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B8FA1"/>
                </a:solidFill>
              </a:rPr>
              <a:t>ITEMS IN INVOICE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172200" y="2423160"/>
            <a:ext cx="5577840" cy="256032"/>
          </a:xfrm>
          <a:prstGeom prst="rect">
            <a:avLst/>
          </a:prstGeom>
          <a:solidFill>
            <a:srgbClr val="0F2D5E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17920" y="24414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229600" y="24414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 Qty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9052560" y="24414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Qty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0149840" y="244144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Return?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0881360" y="244144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172200" y="2679192"/>
            <a:ext cx="5577840" cy="256032"/>
          </a:xfrm>
          <a:prstGeom prst="rect">
            <a:avLst/>
          </a:prstGeom>
          <a:solidFill>
            <a:srgbClr val="FFFDF0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17920" y="26974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 10kg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8229600" y="26974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9052560" y="26974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10149840" y="269748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10881360" y="26974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₹220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9198864" y="2697480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A047"/>
                </a:solidFill>
              </a:rPr>
              <a:t>✓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172200" y="2926080"/>
            <a:ext cx="5577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217920" y="29443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500g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8229600" y="294436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9052560" y="29443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10149840" y="29443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10881360" y="29443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9198864" y="294436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8FA1"/>
                </a:solidFill>
              </a:rPr>
              <a:t>—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6172200" y="3172968"/>
            <a:ext cx="5577840" cy="256032"/>
          </a:xfrm>
          <a:prstGeom prst="rect">
            <a:avLst/>
          </a:prstGeom>
          <a:solidFill>
            <a:srgbClr val="FFFDF0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217920" y="319125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Ghee 500g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8229600" y="319125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9052560" y="319125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10149840" y="31912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10881360" y="319125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₹450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9198864" y="3191256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A047"/>
                </a:solidFill>
              </a:rPr>
              <a:t>✓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6172200" y="3419856"/>
            <a:ext cx="5577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217920" y="343814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Biscuits Asst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8229600" y="343814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9052560" y="343814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10149840" y="343814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10881360" y="34381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9198864" y="3438144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8FA1"/>
                </a:solidFill>
              </a:rPr>
              <a:t>—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172200" y="3666744"/>
            <a:ext cx="5577840" cy="256032"/>
          </a:xfrm>
          <a:prstGeom prst="rect">
            <a:avLst/>
          </a:prstGeom>
          <a:solidFill>
            <a:srgbClr val="FFFDF0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217920" y="368503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Coconut Oil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8229600" y="36850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9052560" y="36850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10149840" y="36850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10881360" y="36850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₹340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9198864" y="3685032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A047"/>
                </a:solidFill>
              </a:rPr>
              <a:t>✓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6172200" y="3950208"/>
            <a:ext cx="5486400" cy="292608"/>
          </a:xfrm>
          <a:prstGeom prst="rect">
            <a:avLst/>
          </a:prstGeom>
          <a:solidFill>
            <a:srgbClr val="FFF8E7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309360" y="398678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7C00"/>
                </a:solidFill>
              </a:rPr>
              <a:t>Total Return Value: ₹1,010   |   3 of 5 items returned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172200" y="4315968"/>
            <a:ext cx="4114800" cy="274320"/>
          </a:xfrm>
          <a:prstGeom prst="rect">
            <a:avLst>
              <a:gd name="adj" fmla="val 13333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1" name="Text 109"/>
          <p:cNvSpPr/>
          <p:nvPr/>
        </p:nvSpPr>
        <p:spPr>
          <a:xfrm>
            <a:off x="6172200" y="43159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⚡ Confirm Physical Match &amp; Issue Credit Note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365760" y="5285232"/>
            <a:ext cx="1143000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A8D5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48640" y="5312664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D5E"/>
                </a:solidFill>
              </a:rPr>
              <a:t>ℹ  Components: ReturnSubTabs  |  BulkReturnChecklist  |  BulkReturnConfirmModal  |  InstantReturnInvoiceSelector  |  ItemReturnTable  |  ReturnSummaryBar  |  CreditNoteButton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— Expiry, Damage &amp; Good Stock Returns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Past-sales stock returned by shops • Manager confirms physical count &amp; batch numbers before credit note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332720" y="201168"/>
            <a:ext cx="1463040" cy="502920"/>
          </a:xfrm>
          <a:prstGeom prst="rect">
            <a:avLst>
              <a:gd name="adj" fmla="val 9091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0" y="2011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03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1F45"/>
          </a:solidFill>
          <a:ln w="12700">
            <a:solidFill>
              <a:srgbClr val="0A1F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611112"/>
            <a:ext cx="11430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Settlement Portal  •  Retool Frontend Guide  •  Confidential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638"/>
                </a:solidFill>
              </a:rPr>
              <a:t>These are returns from PREVIOUS TRIPS / PAST SALES — not the current trip's deliveries. Each return line must be matched to an original invoice.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600200"/>
            <a:ext cx="114300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66420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62828"/>
                </a:solidFill>
              </a:rPr>
              <a:t>PENDING EXPIRY / DAMAGE / GOOD STOCK RETURNS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0" y="1645920"/>
            <a:ext cx="1097280" cy="274320"/>
          </a:xfrm>
          <a:prstGeom prst="rect">
            <a:avLst>
              <a:gd name="adj" fmla="val 13333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0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☑ Select All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332720" y="1645920"/>
            <a:ext cx="1463040" cy="274320"/>
          </a:xfrm>
          <a:prstGeom prst="rect">
            <a:avLst>
              <a:gd name="adj" fmla="val 1333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332720" y="1645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Bulk CN ▸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1965960"/>
            <a:ext cx="10789920" cy="256032"/>
          </a:xfrm>
          <a:prstGeom prst="rect">
            <a:avLst/>
          </a:prstGeom>
          <a:solidFill>
            <a:srgbClr val="0F2D5E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984248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198424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51760" y="198424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80560" y="198424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#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94960" y="19842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 Invoice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198424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Type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0" y="198424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63840" y="19842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 Confirmed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961120" y="19842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2221992"/>
            <a:ext cx="10789920" cy="256032"/>
          </a:xfrm>
          <a:prstGeom prst="rect">
            <a:avLst/>
          </a:prstGeom>
          <a:solidFill>
            <a:srgbClr val="FFF5F5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224028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22960" y="22402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Baraka Stores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651760" y="22402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 400g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480560" y="22402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B2024-11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94960" y="22402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INV-7701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00800" y="22402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315200" y="22402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863840" y="22402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961120" y="22402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577072" y="22402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7C00"/>
                </a:solidFill>
              </a:rPr>
              <a:t>Confirm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720072" y="2267712"/>
            <a:ext cx="1828800" cy="274320"/>
          </a:xfrm>
          <a:prstGeom prst="rect">
            <a:avLst>
              <a:gd name="adj" fmla="val 1333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720072" y="2267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Confirm → CN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" y="2496312"/>
            <a:ext cx="10789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251460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22960" y="25146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Seema Grocers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651760" y="25146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1L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480560" y="25146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B2024-09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394960" y="25146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INV-7650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400800" y="25146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315200" y="2514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863840" y="25146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961120" y="25146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577072" y="25146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7C00"/>
                </a:solidFill>
              </a:rPr>
              <a:t>Confirm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720072" y="2542032"/>
            <a:ext cx="1828800" cy="274320"/>
          </a:xfrm>
          <a:prstGeom prst="rect">
            <a:avLst>
              <a:gd name="adj" fmla="val 1333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9720072" y="2542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Confirm → CN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02920" y="2770632"/>
            <a:ext cx="10789920" cy="256032"/>
          </a:xfrm>
          <a:prstGeom prst="rect">
            <a:avLst/>
          </a:prstGeom>
          <a:solidFill>
            <a:srgbClr val="FFF5F5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278892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22960" y="278892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Valley Mart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651760" y="278892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Masala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480560" y="27889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B2024-10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394960" y="27889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INV-7720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400800" y="27889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Stock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315200" y="27889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7863840" y="27889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961120" y="27889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8577072" y="27889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7C00"/>
                </a:solidFill>
              </a:rPr>
              <a:t>—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9720072" y="2816352"/>
            <a:ext cx="1828800" cy="274320"/>
          </a:xfrm>
          <a:prstGeom prst="rect">
            <a:avLst>
              <a:gd name="adj" fmla="val 1333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9720072" y="2816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Confirm → CN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02920" y="3044952"/>
            <a:ext cx="10789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306324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822960" y="30632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Noor Mart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2651760" y="30632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Coconut 500ml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4480560" y="306324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B2024-12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5394960" y="30632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INV-7802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400800" y="306324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7315200" y="3063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7863840" y="30632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8961120" y="30632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8577072" y="30632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A047"/>
                </a:solidFill>
              </a:rPr>
              <a:t>✓ Done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9720072" y="3099816"/>
            <a:ext cx="822960" cy="201168"/>
          </a:xfrm>
          <a:prstGeom prst="rect">
            <a:avLst>
              <a:gd name="adj" fmla="val 18182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720072" y="30998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CN Issued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365760" y="429768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365760" y="4297680"/>
            <a:ext cx="64008" cy="13716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48640" y="436168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62828"/>
                </a:solidFill>
              </a:rPr>
              <a:t>BATCH VERIFICATION PANEL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548640" y="4663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FA1"/>
                </a:solidFill>
              </a:rPr>
              <a:t>When manager clicks a row, this panel shows batch details from the original invoice for cross-verification: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48640" y="498348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638"/>
                </a:solidFill>
              </a:rPr>
              <a:t>Batch #  :  B2024-11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48640" y="514807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638"/>
                </a:solidFill>
              </a:rPr>
              <a:t>Expiry Date  :  15 Nov 2024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48640" y="5312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638"/>
                </a:solidFill>
              </a:rPr>
              <a:t>Orig Invoice  :  INV-7701  (Date: 3 Sep 2024)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48640" y="547725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638"/>
                </a:solidFill>
              </a:rPr>
              <a:t>Orig Qty Sold  :  48  |  Returns So Far  :  0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6035040" y="4297680"/>
            <a:ext cx="5760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6035040" y="4297680"/>
            <a:ext cx="64008" cy="13716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217920" y="4361688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97A7"/>
                </a:solidFill>
              </a:rPr>
              <a:t>CREDIT NOTE FIFO ADJUSTMENT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6217920" y="466344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D5E"/>
                </a:solidFill>
              </a:rPr>
              <a:t>Credit Note Amount: ₹2,400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6217920" y="4937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638"/>
                </a:solidFill>
              </a:rPr>
              <a:t>INV-7701 (Current Trip)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8961120" y="49377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7A7"/>
                </a:solidFill>
              </a:rPr>
              <a:t>₹1,800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9921240" y="4937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8FA1"/>
                </a:solidFill>
              </a:rPr>
              <a:t>← Applied first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6217920" y="51663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638"/>
                </a:solidFill>
              </a:rPr>
              <a:t>INV-7650 (Overflow → Oldest)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8961120" y="5166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7A7"/>
                </a:solidFill>
              </a:rPr>
              <a:t>₹600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9921240" y="5166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8FA1"/>
                </a:solidFill>
              </a:rPr>
              <a:t>← FIFO balance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365760" y="5285232"/>
            <a:ext cx="1143000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A8D5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48640" y="5312664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D5E"/>
                </a:solidFill>
              </a:rPr>
              <a:t>ℹ  Components: ExpiryDamageReturnTable  |  BatchVerificationPanel  |  BulkSelectBar  |  CreditNoteFIFOPreview  |  PhysicalConfirmToggle  |  IssueCreditNoteButton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3 — Expenses Approval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reviews trip expenses submitted by delivery team — approves or rejects with reasoning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332720" y="201168"/>
            <a:ext cx="1463040" cy="502920"/>
          </a:xfrm>
          <a:prstGeom prst="rect">
            <a:avLst>
              <a:gd name="adj" fmla="val 9091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0" y="2011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04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1F45"/>
          </a:solidFill>
          <a:ln w="12700">
            <a:solidFill>
              <a:srgbClr val="0A1F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611112"/>
            <a:ext cx="11430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Settlement Portal  •  Retool Frontend Guide  •  Confidential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188720"/>
            <a:ext cx="114300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1261872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7C00"/>
                </a:solidFill>
              </a:rPr>
              <a:t>TRIP EXPENSES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126187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2D5E"/>
                </a:solidFill>
              </a:rPr>
              <a:t>Total Submitted: ₹4,350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247120" cy="256032"/>
          </a:xfrm>
          <a:prstGeom prst="rect">
            <a:avLst/>
          </a:prstGeom>
          <a:solidFill>
            <a:srgbClr val="0F2D5E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5910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20240" y="159105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80560" y="159105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94960" y="159105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0" y="159105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0" y="159105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15910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1828800"/>
            <a:ext cx="11247120" cy="256032"/>
          </a:xfrm>
          <a:prstGeom prst="rect">
            <a:avLst/>
          </a:prstGeom>
          <a:solidFill>
            <a:srgbClr val="FFFDF5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18470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920240" y="18470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— City route 240km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480560" y="184708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₹1,800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94960" y="184708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Photo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0" y="18470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315200" y="184708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229600" y="184708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686800" y="1865376"/>
            <a:ext cx="822960" cy="201168"/>
          </a:xfrm>
          <a:prstGeom prst="rect">
            <a:avLst>
              <a:gd name="adj" fmla="val 18182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0" y="18653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Pending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601200" y="1856232"/>
            <a:ext cx="1005840" cy="274320"/>
          </a:xfrm>
          <a:prstGeom prst="rect">
            <a:avLst>
              <a:gd name="adj" fmla="val 13333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601200" y="18562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 Approve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698480" y="1856232"/>
            <a:ext cx="914400" cy="274320"/>
          </a:xfrm>
          <a:prstGeom prst="rect">
            <a:avLst>
              <a:gd name="adj" fmla="val 133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0698480" y="1856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✗ Reject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1704320" y="1856232"/>
            <a:ext cx="731520" cy="274320"/>
          </a:xfrm>
          <a:prstGeom prst="rect">
            <a:avLst>
              <a:gd name="adj" fmla="val 133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1704320" y="18562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👁 Proof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" y="2121408"/>
            <a:ext cx="11247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2139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920240" y="21396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NH48 Entry + Exit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480560" y="21396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₹120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394960" y="213969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Photo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217920" y="21396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315200" y="21396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229600" y="21396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686800" y="2157984"/>
            <a:ext cx="822960" cy="201168"/>
          </a:xfrm>
          <a:prstGeom prst="rect">
            <a:avLst>
              <a:gd name="adj" fmla="val 18182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0" y="21579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Pending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9601200" y="2148840"/>
            <a:ext cx="1005840" cy="274320"/>
          </a:xfrm>
          <a:prstGeom prst="rect">
            <a:avLst>
              <a:gd name="adj" fmla="val 13333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9601200" y="2148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 Approve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0698480" y="2148840"/>
            <a:ext cx="914400" cy="274320"/>
          </a:xfrm>
          <a:prstGeom prst="rect">
            <a:avLst>
              <a:gd name="adj" fmla="val 133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1069848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✗ Reject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1704320" y="2148840"/>
            <a:ext cx="731520" cy="274320"/>
          </a:xfrm>
          <a:prstGeom prst="rect">
            <a:avLst>
              <a:gd name="adj" fmla="val 133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11704320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👁 Proof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02920" y="2414016"/>
            <a:ext cx="11247120" cy="256032"/>
          </a:xfrm>
          <a:prstGeom prst="rect">
            <a:avLst/>
          </a:prstGeom>
          <a:solidFill>
            <a:srgbClr val="FFFDF5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243230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920240" y="243230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— 3 persons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480560" y="243230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₹450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394960" y="24323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Photo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217920" y="243230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315200" y="243230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229600" y="24323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8686800" y="2450592"/>
            <a:ext cx="822960" cy="201168"/>
          </a:xfrm>
          <a:prstGeom prst="rect">
            <a:avLst>
              <a:gd name="adj" fmla="val 18182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86800" y="24505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Approved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9601200" y="24597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A047"/>
                </a:solidFill>
              </a:rPr>
              <a:t>Approved ✓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02920" y="2706624"/>
            <a:ext cx="11247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272491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920240" y="27249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parking — 3hrs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480560" y="27249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₹180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394960" y="27249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Photo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217920" y="27249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Review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7315200" y="27249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8229600" y="27249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8686800" y="2743200"/>
            <a:ext cx="822960" cy="201168"/>
          </a:xfrm>
          <a:prstGeom prst="rect">
            <a:avLst>
              <a:gd name="adj" fmla="val 18182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686800" y="27432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Pending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9601200" y="2734056"/>
            <a:ext cx="1005840" cy="274320"/>
          </a:xfrm>
          <a:prstGeom prst="rect">
            <a:avLst>
              <a:gd name="adj" fmla="val 13333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9601200" y="27340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 Approve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10698480" y="2734056"/>
            <a:ext cx="914400" cy="274320"/>
          </a:xfrm>
          <a:prstGeom prst="rect">
            <a:avLst>
              <a:gd name="adj" fmla="val 133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10698480" y="27340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✗ Reject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1704320" y="2734056"/>
            <a:ext cx="731520" cy="274320"/>
          </a:xfrm>
          <a:prstGeom prst="rect">
            <a:avLst>
              <a:gd name="adj" fmla="val 133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11704320" y="27340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👁 Proof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02920" y="2999232"/>
            <a:ext cx="11247120" cy="256032"/>
          </a:xfrm>
          <a:prstGeom prst="rect">
            <a:avLst/>
          </a:prstGeom>
          <a:solidFill>
            <a:srgbClr val="FFFDF5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48640" y="30175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1920240" y="30175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 puncture fix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4480560" y="30175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₹600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394960" y="30175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Photo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6217920" y="30175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7315200" y="30175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8229600" y="30175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8686800" y="3035808"/>
            <a:ext cx="822960" cy="201168"/>
          </a:xfrm>
          <a:prstGeom prst="rect">
            <a:avLst>
              <a:gd name="adj" fmla="val 18182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686800" y="30358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Approved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9601200" y="30449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A047"/>
                </a:solidFill>
              </a:rPr>
              <a:t>Approved ✓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502920" y="3291840"/>
            <a:ext cx="11247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48640" y="33101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1920240" y="33101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loading charge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4480560" y="33101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₹1,200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5394960" y="33101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None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6217920" y="33101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Proof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7315200" y="33101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8229600" y="331012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8686800" y="3328416"/>
            <a:ext cx="822960" cy="201168"/>
          </a:xfrm>
          <a:prstGeom prst="rect">
            <a:avLst>
              <a:gd name="adj" fmla="val 18182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686800" y="33284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Rejected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9601200" y="33375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E53935"/>
                </a:solidFill>
              </a:rPr>
              <a:t>Rejected — No proof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365760" y="448056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365760" y="4480560"/>
            <a:ext cx="64008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48640" y="45445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</a:rPr>
              <a:t>PROOF VIEWER MODAL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548640" y="4800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FA1"/>
                </a:solidFill>
              </a:rPr>
              <a:t>Image / PDF viewer opens when manager clicks 👁 Proof. Lightbox component shows receipt, photo or document. Manager can zoom, download, or flag.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4206240" y="448056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7" name="Shape 105"/>
          <p:cNvSpPr/>
          <p:nvPr/>
        </p:nvSpPr>
        <p:spPr>
          <a:xfrm>
            <a:off x="4206240" y="4480560"/>
            <a:ext cx="64008" cy="7772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389120" y="45445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53935"/>
                </a:solidFill>
              </a:rPr>
              <a:t>REJECTION REASON MODAL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4389120" y="4800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FA1"/>
                </a:solidFill>
              </a:rPr>
              <a:t>When rejecting, a modal prompts manager to select reason: No Proof / Unreasonable Amount / Duplicate / Policy Violation. Notes field optional.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8046720" y="4480560"/>
            <a:ext cx="3749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1" name="Shape 109"/>
          <p:cNvSpPr/>
          <p:nvPr/>
        </p:nvSpPr>
        <p:spPr>
          <a:xfrm>
            <a:off x="8046720" y="4480560"/>
            <a:ext cx="64008" cy="7772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229600" y="45445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A047"/>
                </a:solidFill>
              </a:rPr>
              <a:t>APPROVAL SUMMARY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8229600" y="4800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638"/>
                </a:solidFill>
              </a:rPr>
              <a:t>Approved: ₹2,550   |   Pending: ₹2,100   |   Rejected: ₹1,200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638"/>
                </a:solidFill>
              </a:rPr>
              <a:t>All approved → triggers finance entry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365760" y="5285232"/>
            <a:ext cx="1143000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A8D5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48640" y="5312664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D5E"/>
                </a:solidFill>
              </a:rPr>
              <a:t>ℹ  Components: ExpenseTable  |  ApproveRejectButtons  |  ProofViewerModal  |  RejectionReasonModal  |  ExpenseSummaryBar  |  BulkApproveButton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Reference &amp; Component Naming Convention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Supabase queries mapped to each UI section — Retool resource names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1F45"/>
          </a:solidFill>
          <a:ln w="12700">
            <a:solidFill>
              <a:srgbClr val="0A1F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11112"/>
            <a:ext cx="11430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Settlement Portal  •  Retool Frontend Guide  •  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5669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188720"/>
            <a:ext cx="64008" cy="4114800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26187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2D5E"/>
                </a:solidFill>
              </a:rPr>
              <a:t>API ENDPOINTS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572768"/>
            <a:ext cx="50292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727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GET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97280" y="15727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/trips/{id}/delivery-sync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069080" y="15727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B8FA1"/>
                </a:solidFill>
              </a:rPr>
              <a:t>Fetch delivered + undelivered invoices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48640" y="1847088"/>
            <a:ext cx="502920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847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POST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097280" y="18470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/trips/{id}/verify-delivery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069080" y="1847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B8FA1"/>
                </a:solidFill>
              </a:rPr>
              <a:t>Mark invoices as physically verified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48640" y="2121408"/>
            <a:ext cx="502920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1214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POST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097280" y="21214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/returns/bulk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069080" y="21214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B8FA1"/>
                </a:solidFill>
              </a:rPr>
              <a:t>Create bulk return for shop-refused deliveries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48640" y="2395728"/>
            <a:ext cx="502920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3957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POST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97280" y="23957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/returns/instant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069080" y="23957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B8FA1"/>
                </a:solidFill>
              </a:rPr>
              <a:t>Partial item return for instant rejection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48640" y="2670048"/>
            <a:ext cx="502920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26700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POST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097280" y="26700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/returns/expiry-damage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069080" y="26700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B8FA1"/>
                </a:solidFill>
              </a:rPr>
              <a:t>Past-trip expiry / damage / good stock return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48640" y="2944368"/>
            <a:ext cx="502920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29443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POST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097280" y="29443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/credit-notes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069080" y="2944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B8FA1"/>
                </a:solidFill>
              </a:rPr>
              <a:t>Create credit note (linked to return)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48640" y="3218688"/>
            <a:ext cx="50292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2186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GET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097280" y="32186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/customers/{id}/unpaid-invoices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069080" y="3218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B8FA1"/>
                </a:solidFill>
              </a:rPr>
              <a:t>FIFO: get oldest unpaid invoice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48640" y="3493008"/>
            <a:ext cx="502920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4930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POST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097280" y="34930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/credit-notes/fifo-adjust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069080" y="34930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B8FA1"/>
                </a:solidFill>
              </a:rPr>
              <a:t>Apply overflow credit via FIFO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48640" y="3767328"/>
            <a:ext cx="50292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37673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GET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097280" y="37673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/expenses/trip/{id}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069080" y="3767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B8FA1"/>
                </a:solidFill>
              </a:rPr>
              <a:t>List expenses for the trip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48640" y="4041648"/>
            <a:ext cx="502920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4041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POST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097280" y="40416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/expenses/{id}/approve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069080" y="4041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B8FA1"/>
                </a:solidFill>
              </a:rPr>
              <a:t>Approve single expense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48640" y="4315968"/>
            <a:ext cx="502920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43159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POST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097280" y="43159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/expenses/{id}/reject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069080" y="43159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B8FA1"/>
                </a:solidFill>
              </a:rPr>
              <a:t>Reject expense with reason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48640" y="4590288"/>
            <a:ext cx="502920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45902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POST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1097280" y="45902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/trips/{id}/complete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069080" y="45902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B8FA1"/>
                </a:solidFill>
              </a:rPr>
              <a:t>Finalize trip (all checks passed)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217920" y="1188720"/>
            <a:ext cx="55778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217920" y="1188720"/>
            <a:ext cx="64008" cy="19659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0" y="1261872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97A7"/>
                </a:solidFill>
              </a:rPr>
              <a:t>RETOOL COMPONENT NAMING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400800" y="160020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tbl_DeliveredInvoices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400800" y="180136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tbl_UndeliveredInvoices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400800" y="200253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chk_BulkReturnSelect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400800" y="220370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btn_ConfirmBulkReturn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400800" y="240487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mdl_BulkReturnSummary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400800" y="260604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tbl_InstantReturnItems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400800" y="280720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btn_IssueInstantCN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400800" y="300837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tbl_ExpiryDamageReturns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400800" y="320954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pnl_BatchVerification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9189720" y="160020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tbl_ExpenseList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9189720" y="180136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btn_ApproveExpense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9189720" y="200253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btn_RejectExpense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9189720" y="220370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mdl_ProofViewer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9189720" y="240487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mdl_RejectionReason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9189720" y="260604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btn_CompleteTrip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9189720" y="280720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txt_TripStatusBadge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9189720" y="300837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cnt_TripSummaryCard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9189720" y="320954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sel_InvoiceDropdown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6217920" y="3246120"/>
            <a:ext cx="55778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6217920" y="3246120"/>
            <a:ext cx="64008" cy="2057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00800" y="3310128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565C0"/>
                </a:solidFill>
              </a:rPr>
              <a:t>KEY JS SNIPPETS — RETOOL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6400800" y="3611880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97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Bulk select all undelivered shops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6400800" y="3767328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chk_BulkReturnSelect.setValue(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6400800" y="3922776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tbl_UndeliveredInvoices.data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400800" y="4078224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.filter(r=&gt;r.reason==='refused')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400800" y="423367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.map(r=&gt;r.invoice_id))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6400800" y="4389120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6400800" y="4544568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97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FIFO credit note apply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6400800" y="4700016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overflow = cn.amount - invoice.balance;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6400800" y="4855464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if(overflow&gt;0) applyFIFO(customer_id, overflow);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365760" y="5285232"/>
            <a:ext cx="1143000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A8D5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48640" y="5312664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D5E"/>
                </a:solidFill>
              </a:rPr>
              <a:t>ℹ  Naming Convention: prefix_ComponentName (tbl = table, btn = button, mdl = modal, chk = checkbox, pnl = panel, cnt = container, sel = select, txt = text/badge)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6 — Trip Completion Checklist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sections must be resolved before 'Complete Trip' is enabled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332720" y="201168"/>
            <a:ext cx="1463040" cy="502920"/>
          </a:xfrm>
          <a:prstGeom prst="rect">
            <a:avLst>
              <a:gd name="adj" fmla="val 9091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0" y="2011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FINAL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1F45"/>
          </a:solidFill>
          <a:ln w="12700">
            <a:solidFill>
              <a:srgbClr val="0A1F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611112"/>
            <a:ext cx="11430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Settlement Portal  •  Retool Frontend Guide  •  Confidential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188720"/>
            <a:ext cx="5303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188720"/>
            <a:ext cx="64008" cy="41148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261872"/>
            <a:ext cx="4937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3A047"/>
                </a:solidFill>
              </a:rPr>
              <a:t>COMPLETION CHECKLIST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1600200"/>
            <a:ext cx="228600" cy="22860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600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" y="16002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38"/>
                </a:solidFill>
              </a:rPr>
              <a:t>All delivered invoices verified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1920240"/>
            <a:ext cx="228600" cy="22860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9202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19202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38"/>
                </a:solidFill>
              </a:rPr>
              <a:t>Undelivered invoices actioned (CN / Next Trip)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2240280"/>
            <a:ext cx="228600" cy="22860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2402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68680" y="22402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38"/>
                </a:solidFill>
              </a:rPr>
              <a:t>Physical returns confirmed by manager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2560320"/>
            <a:ext cx="228600" cy="22860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5603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8680" y="25603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38"/>
                </a:solidFill>
              </a:rPr>
              <a:t>Bulk shop returns — credit notes issued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2880360"/>
            <a:ext cx="228600" cy="22860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8803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28803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38"/>
                </a:solidFill>
              </a:rPr>
              <a:t>Instant returns — credit notes issued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3200400"/>
            <a:ext cx="228600" cy="228600"/>
          </a:xfrm>
          <a:prstGeom prst="ellipse">
            <a:avLst/>
          </a:prstGeom>
          <a:solidFill>
            <a:srgbClr val="FFB74D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200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!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68680" y="32004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7C00"/>
                </a:solidFill>
              </a:rPr>
              <a:t>Expiry / Damage returns — pending (2 items)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3520440"/>
            <a:ext cx="228600" cy="22860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5204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68680" y="35204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38"/>
                </a:solidFill>
              </a:rPr>
              <a:t>All credit notes financially settled (FIFO)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3840480"/>
            <a:ext cx="228600" cy="22860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840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68680" y="38404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38"/>
                </a:solidFill>
              </a:rPr>
              <a:t>Expenses — approved / rejected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" y="4160520"/>
            <a:ext cx="228600" cy="228600"/>
          </a:xfrm>
          <a:prstGeom prst="ellipse">
            <a:avLst/>
          </a:prstGeom>
          <a:solidFill>
            <a:srgbClr val="FFB74D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1605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!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68680" y="41605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7C00"/>
                </a:solidFill>
              </a:rPr>
              <a:t>Payments — 1 verification pending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" y="4480560"/>
            <a:ext cx="228600" cy="22860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480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68680" y="44805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38"/>
                </a:solidFill>
              </a:rPr>
              <a:t>DSE sign-off collected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48640" y="4919472"/>
            <a:ext cx="4937760" cy="411480"/>
          </a:xfrm>
          <a:prstGeom prst="rect">
            <a:avLst/>
          </a:prstGeom>
          <a:solidFill>
            <a:srgbClr val="C8D8C8"/>
          </a:solidFill>
          <a:ln w="12700">
            <a:solidFill>
              <a:srgbClr val="B0C8B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91947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EA88E"/>
                </a:solidFill>
              </a:rPr>
              <a:t>✅  COMPLETE TRIP  (2 items pending)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8640" y="534924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B8FA1"/>
                </a:solidFill>
              </a:rPr>
              <a:t>Button enabled only when all checklist items are ✓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852160" y="1188720"/>
            <a:ext cx="5943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852160" y="1188720"/>
            <a:ext cx="64008" cy="4114800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35040" y="1261872"/>
            <a:ext cx="5577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2D5E"/>
                </a:solidFill>
              </a:rPr>
              <a:t>TRIP FINANCIAL SUMMARY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035040" y="1554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638"/>
                </a:solidFill>
              </a:rPr>
              <a:t>Total Invoice Value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987552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638"/>
                </a:solidFill>
              </a:rPr>
              <a:t>₹84,200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035040" y="18288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3A047"/>
                </a:solidFill>
              </a:rPr>
              <a:t>Delivered &amp; Verified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9875520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3A047"/>
                </a:solidFill>
              </a:rPr>
              <a:t>₹71,400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035040" y="21031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7C00"/>
                </a:solidFill>
              </a:rPr>
              <a:t>Undelivered (Actioned)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9875520" y="2103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7C00"/>
                </a:solidFill>
              </a:rPr>
              <a:t>₹12,800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035040" y="2377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3935"/>
                </a:solidFill>
              </a:rPr>
              <a:t>— Customer Cancelled CN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987552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53935"/>
                </a:solidFill>
              </a:rPr>
              <a:t>₹5,200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035040" y="2651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565C0"/>
                </a:solidFill>
              </a:rPr>
              <a:t>— Next Trip Queue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9875520" y="2651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565C0"/>
                </a:solidFill>
              </a:rPr>
              <a:t>₹4,600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035040" y="29260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1B9A"/>
                </a:solidFill>
              </a:rPr>
              <a:t>— Shop Refused CN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9875520" y="2926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1B9A"/>
                </a:solidFill>
              </a:rPr>
              <a:t>₹3,000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035040" y="3200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7C00"/>
                </a:solidFill>
              </a:rPr>
              <a:t>Instant Returns CN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9875520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7C00"/>
                </a:solidFill>
              </a:rPr>
              <a:t>₹1,010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035040" y="34747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62828"/>
                </a:solidFill>
              </a:rPr>
              <a:t>Expiry / Damage CN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987552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62828"/>
                </a:solidFill>
              </a:rPr>
              <a:t>₹2,400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989320" y="3712464"/>
            <a:ext cx="5669280" cy="9144"/>
          </a:xfrm>
          <a:prstGeom prst="rect">
            <a:avLst/>
          </a:prstGeom>
          <a:solidFill>
            <a:srgbClr val="D8E2ED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035040" y="37490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</a:rPr>
              <a:t>Total Credit Notes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9875520" y="3749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53935"/>
                </a:solidFill>
              </a:rPr>
              <a:t>₹11,610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989320" y="3986784"/>
            <a:ext cx="5669280" cy="9144"/>
          </a:xfrm>
          <a:prstGeom prst="rect">
            <a:avLst/>
          </a:prstGeom>
          <a:solidFill>
            <a:srgbClr val="D8E2ED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35040" y="4023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638"/>
                </a:solidFill>
              </a:rPr>
              <a:t>Total Expenses Approved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9875520" y="4023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638"/>
                </a:solidFill>
              </a:rPr>
              <a:t>₹3,150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6035040" y="42976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3A047"/>
                </a:solidFill>
              </a:rPr>
              <a:t>Total Payments Collected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9875520" y="4297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3A047"/>
                </a:solidFill>
              </a:rPr>
              <a:t>₹62,440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5989320" y="4535424"/>
            <a:ext cx="5669280" cy="9144"/>
          </a:xfrm>
          <a:prstGeom prst="rect">
            <a:avLst/>
          </a:prstGeom>
          <a:solidFill>
            <a:srgbClr val="D8E2ED"/>
          </a:solidFill>
          <a:ln w="12700">
            <a:solidFill>
              <a:srgbClr val="D8E2E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035040" y="4572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7C00"/>
                </a:solidFill>
              </a:rPr>
              <a:t>Outstanding Balance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9875520" y="4572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57C00"/>
                </a:solidFill>
              </a:rPr>
              <a:t>₹7,150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65760" y="5285232"/>
            <a:ext cx="1143000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A8D5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48640" y="5312664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D5E"/>
                </a:solidFill>
              </a:rPr>
              <a:t>ℹ  Components: CompletionChecklist  |  CompleteTripButton (disabled until all checks pass)  |  TripFinancialSummaryCard  |  TripStatusUpdater (POST /trips/{id}/complete)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Trip Settlement Portal – Frontend Guide</dc:title>
  <dc:subject>PptxGenJS Presentation</dc:subject>
  <dc:creator>Settlement System</dc:creator>
  <cp:lastModifiedBy>Settlement System</cp:lastModifiedBy>
  <cp:revision>1</cp:revision>
  <dcterms:created xsi:type="dcterms:W3CDTF">2026-02-22T09:02:57Z</dcterms:created>
  <dcterms:modified xsi:type="dcterms:W3CDTF">2026-02-22T09:02:57Z</dcterms:modified>
</cp:coreProperties>
</file>